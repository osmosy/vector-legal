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grpSp>
        <p:nvGrpSpPr>
          <p:cNvPr id="13" name="Group 13"/>
          <p:cNvGrpSpPr/>
          <p:nvPr/>
        </p:nvGrpSpPr>
        <p:grpSpPr>
          <a:xfrm>
            <a:off x="5648325" y="1181100"/>
            <a:ext cx="981075" cy="781050"/>
            <a:chOff x="5648325" y="1181100"/>
            <a:chExt cx="981075" cy="781050"/>
          </a:xfrm>
        </p:grpSpPr>
        <p:sp>
          <p:nvSpPr>
            <p:cNvPr id="5" name="Rectangle 5"/>
            <p:cNvSpPr/>
            <p:nvPr/>
          </p:nvSpPr>
          <p:spPr>
            <a:xfrm>
              <a:off x="5753100" y="1181100"/>
              <a:ext cx="876300" cy="1714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8BDF8">
                    <a:alpha val="40000"/>
                  </a:srgbClr>
                </a:gs>
                <a:gs pos="100000">
                  <a:srgbClr val="0EA5E9">
                    <a:alpha val="40000"/>
                  </a:srgb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6" name="Rectangle 6"/>
            <p:cNvSpPr/>
            <p:nvPr/>
          </p:nvSpPr>
          <p:spPr>
            <a:xfrm>
              <a:off x="5657850" y="1181100"/>
              <a:ext cx="114300" cy="114300"/>
            </a:xfrm>
            <a:prstGeom prst="roundRect">
              <a:avLst>
                <a:gd name="adj" fmla="val 33333"/>
              </a:avLst>
            </a:prstGeom>
            <a:solidFill>
              <a:srgbClr val="38BDF8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6419850" y="1181100"/>
              <a:ext cx="114300" cy="114300"/>
            </a:xfrm>
            <a:prstGeom prst="roundRect">
              <a:avLst>
                <a:gd name="adj" fmla="val 33333"/>
              </a:avLst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8" name="Line 8"/>
            <p:cNvSpPr/>
            <p:nvPr/>
          </p:nvSpPr>
          <p:spPr>
            <a:xfrm>
              <a:off x="6096000" y="1238250"/>
              <a:ext cx="9525" cy="723900"/>
            </a:xfrm>
            <a:custGeom>
              <a:avLst/>
              <a:gdLst/>
              <a:ahLst/>
              <a:cxnLst/>
              <a:rect l="l" t="t" r="r" b="b"/>
              <a:pathLst>
                <a:path w="9525" h="723900">
                  <a:moveTo>
                    <a:pt x="0" y="0"/>
                  </a:moveTo>
                  <a:lnTo>
                    <a:pt x="0" y="723900"/>
                  </a:lnTo>
                </a:path>
              </a:pathLst>
            </a:custGeom>
            <a:noFill/>
            <a:ln w="28575">
              <a:solidFill>
                <a:srgbClr val="94A3B8"/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5715000" y="1428750"/>
              <a:ext cx="762000" cy="9525"/>
            </a:xfrm>
            <a:custGeom>
              <a:avLst/>
              <a:gdLst/>
              <a:ahLst/>
              <a:cxnLst/>
              <a:rect l="l" t="t" r="r" b="b"/>
              <a:pathLst>
                <a:path w="762000" h="9525">
                  <a:moveTo>
                    <a:pt x="0" y="0"/>
                  </a:moveTo>
                  <a:lnTo>
                    <a:pt x="762000" y="0"/>
                  </a:lnTo>
                </a:path>
              </a:pathLst>
            </a:custGeom>
            <a:noFill/>
            <a:ln w="19050">
              <a:solidFill>
                <a:srgbClr val="60A5FA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5734050" y="1695450"/>
              <a:ext cx="723900" cy="9525"/>
            </a:xfrm>
            <a:custGeom>
              <a:avLst/>
              <a:gdLst/>
              <a:ahLst/>
              <a:cxnLst/>
              <a:rect l="l" t="t" r="r" b="b"/>
              <a:pathLst>
                <a:path w="723900" h="9525">
                  <a:moveTo>
                    <a:pt x="0" y="0"/>
                  </a:moveTo>
                  <a:lnTo>
                    <a:pt x="723900" y="0"/>
                  </a:lnTo>
                </a:path>
              </a:pathLst>
            </a:custGeom>
            <a:noFill/>
            <a:ln w="19050">
              <a:solidFill>
                <a:srgbClr val="60A5FA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5648325" y="1400175"/>
              <a:ext cx="95250" cy="95250"/>
            </a:xfrm>
            <a:prstGeom prst="ellipse">
              <a:avLst/>
            </a:prstGeom>
            <a:solidFill>
              <a:srgbClr val="38BDF8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6410325" y="1400175"/>
              <a:ext cx="95250" cy="95250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</p:grpSp>
      <p:sp>
        <p:nvSpPr>
          <p:cNvPr id="14" name="TextBox 14"/>
          <p:cNvSpPr txBox="1"/>
          <p:nvPr/>
        </p:nvSpPr>
        <p:spPr>
          <a:xfrm>
            <a:off x="3594272" y="2242185"/>
            <a:ext cx="5003455" cy="1104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5700" b="1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Vector Legal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05722" y="3169920"/>
            <a:ext cx="7380556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2400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Юридический AI-департамент для Hermes Agent</a:t>
            </a:r>
          </a:p>
        </p:txBody>
      </p:sp>
      <p:sp>
        <p:nvSpPr>
          <p:cNvPr id="16" name="Rectangle 16"/>
          <p:cNvSpPr/>
          <p:nvPr/>
        </p:nvSpPr>
        <p:spPr>
          <a:xfrm>
            <a:off x="4191000" y="3714750"/>
            <a:ext cx="3810000" cy="1905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3888701" y="4044315"/>
            <a:ext cx="44145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800" dirty="0">
                <a:solidFill>
                  <a:srgbClr val="94A3B8"/>
                </a:solidFill>
                <a:latin typeface="Inter"/>
                <a:ea typeface="Inter"/>
                <a:cs typeface="Inter"/>
              </a:rPr>
              <a:t>12 плагинов · 167 навыков · право РФ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3048000" y="4667250"/>
            <a:ext cx="1828800" cy="580739"/>
            <a:chOff x="3048000" y="4667250"/>
            <a:chExt cx="1828800" cy="580739"/>
          </a:xfrm>
        </p:grpSpPr>
        <p:sp>
          <p:nvSpPr>
            <p:cNvPr id="18" name="Rectangle 18"/>
            <p:cNvSpPr/>
            <p:nvPr/>
          </p:nvSpPr>
          <p:spPr>
            <a:xfrm>
              <a:off x="3048000" y="4667250"/>
              <a:ext cx="1828800" cy="571500"/>
            </a:xfrm>
            <a:prstGeom prst="roundRect">
              <a:avLst>
                <a:gd name="adj" fmla="val 2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306804" y="4831556"/>
              <a:ext cx="13111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Профиль практики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230105" y="5057299"/>
              <a:ext cx="14645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60A5FA"/>
                  </a:solidFill>
                  <a:latin typeface="Inter"/>
                  <a:ea typeface="Inter"/>
                  <a:cs typeface="Inter"/>
                </a:rPr>
                <a:t>Правила твоей команды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5181600" y="4667250"/>
            <a:ext cx="1828800" cy="580739"/>
            <a:chOff x="5181600" y="4667250"/>
            <a:chExt cx="1828800" cy="580739"/>
          </a:xfrm>
        </p:grpSpPr>
        <p:sp>
          <p:nvSpPr>
            <p:cNvPr id="22" name="Rectangle 22"/>
            <p:cNvSpPr/>
            <p:nvPr/>
          </p:nvSpPr>
          <p:spPr>
            <a:xfrm>
              <a:off x="5181600" y="4667250"/>
              <a:ext cx="1828800" cy="571500"/>
            </a:xfrm>
            <a:prstGeom prst="roundRect">
              <a:avLst>
                <a:gd name="adj" fmla="val 2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692735" y="4831556"/>
              <a:ext cx="8065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12 доменов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683923" y="5057299"/>
              <a:ext cx="8241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60A5FA"/>
                  </a:solidFill>
                  <a:latin typeface="Inter"/>
                  <a:ea typeface="Inter"/>
                  <a:cs typeface="Inter"/>
                </a:rPr>
                <a:t>Всё право РФ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7315200" y="4667250"/>
            <a:ext cx="1828800" cy="580739"/>
            <a:chOff x="7315200" y="4667250"/>
            <a:chExt cx="1828800" cy="580739"/>
          </a:xfrm>
        </p:grpSpPr>
        <p:sp>
          <p:nvSpPr>
            <p:cNvPr id="26" name="Rectangle 26"/>
            <p:cNvSpPr/>
            <p:nvPr/>
          </p:nvSpPr>
          <p:spPr>
            <a:xfrm>
              <a:off x="7315200" y="4667250"/>
              <a:ext cx="1828800" cy="571500"/>
            </a:xfrm>
            <a:prstGeom prst="roundRect">
              <a:avLst>
                <a:gd name="adj" fmla="val 2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698927" y="4831556"/>
              <a:ext cx="10613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Правовые базы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674802" y="5057299"/>
              <a:ext cx="110959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60A5FA"/>
                  </a:solidFill>
                  <a:latin typeface="Inter"/>
                  <a:ea typeface="Inter"/>
                  <a:cs typeface="Inter"/>
                </a:rPr>
                <a:t>13 источников РФ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4009725" y="6212681"/>
            <a:ext cx="417254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20" dirty="0">
                <a:solidFill>
                  <a:srgbClr val="94A3B8"/>
                </a:solidFill>
                <a:latin typeface="Inter"/>
                <a:ea typeface="Inter"/>
                <a:cs typeface="Inter"/>
              </a:rPr>
              <a:t>Адаптация из anthropics/claude-for-legal (Apache-2.0)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5113376" y="6466999"/>
            <a:ext cx="1965248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8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Osmosy · Hermes Agent · 2026</a:t>
            </a:r>
          </a:p>
        </p:txBody>
      </p:sp>
      <p:sp>
        <p:nvSpPr>
          <p:cNvPr id="32" name="Rectangle 32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548278" y="6570345"/>
            <a:ext cx="226748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Vector Legal · Hermes Agent · Оsmosy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6166" y="553402"/>
            <a:ext cx="95730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01 · Введение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" y="819150"/>
            <a:ext cx="477953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Что такое Vector Legal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333500"/>
            <a:ext cx="1143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563118" y="1679258"/>
            <a:ext cx="4937055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Набор юридических навыков для Hermes Agent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65023" y="2100739"/>
            <a:ext cx="718491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80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Аналогия: как нанять ассистента, который знает внутренние правила вашей команды,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5023" y="2338864"/>
            <a:ext cx="6337906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80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пороги эскалаций и стиль писем — по вашим правилам, не generic-шаблонам.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571500" y="2857500"/>
            <a:ext cx="3429000" cy="1333500"/>
            <a:chOff x="571500" y="2857500"/>
            <a:chExt cx="3429000" cy="1333500"/>
          </a:xfrm>
        </p:grpSpPr>
        <p:sp>
          <p:nvSpPr>
            <p:cNvPr id="12" name="Rectangle 12"/>
            <p:cNvSpPr/>
            <p:nvPr/>
          </p:nvSpPr>
          <p:spPr>
            <a:xfrm>
              <a:off x="571500" y="2857500"/>
              <a:ext cx="3429000" cy="1333500"/>
            </a:xfrm>
            <a:prstGeom prst="roundRect">
              <a:avLst>
                <a:gd name="adj" fmla="val 11429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49630" y="3124200"/>
              <a:ext cx="183490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Профиль практики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51916" y="3506152"/>
              <a:ext cx="275050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Агент работает по внутренним правилам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51916" y="3744278"/>
              <a:ext cx="215920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вашей команды, извлечённым из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51916" y="3982402"/>
              <a:ext cx="22722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реальных подписанных договоров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191000" y="2857500"/>
            <a:ext cx="3429000" cy="1333500"/>
            <a:chOff x="4191000" y="2857500"/>
            <a:chExt cx="3429000" cy="1333500"/>
          </a:xfrm>
        </p:grpSpPr>
        <p:sp>
          <p:nvSpPr>
            <p:cNvPr id="18" name="Rectangle 18"/>
            <p:cNvSpPr/>
            <p:nvPr/>
          </p:nvSpPr>
          <p:spPr>
            <a:xfrm>
              <a:off x="4191000" y="2857500"/>
              <a:ext cx="3429000" cy="1333500"/>
            </a:xfrm>
            <a:prstGeom prst="roundRect">
              <a:avLst>
                <a:gd name="adj" fmla="val 11429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469130" y="3124200"/>
              <a:ext cx="159483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12 направлений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471416" y="3506152"/>
              <a:ext cx="218290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Коммерция · ПДн · корпоратив ·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471416" y="3744278"/>
              <a:ext cx="254237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трудовое · суды · ИС · ИИ-гавернанс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471416" y="3982402"/>
              <a:ext cx="237185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Все — право Российской Федерации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7810500" y="2857500"/>
            <a:ext cx="3429000" cy="1333500"/>
            <a:chOff x="7810500" y="2857500"/>
            <a:chExt cx="3429000" cy="1333500"/>
          </a:xfrm>
        </p:grpSpPr>
        <p:sp>
          <p:nvSpPr>
            <p:cNvPr id="24" name="Rectangle 24"/>
            <p:cNvSpPr/>
            <p:nvPr/>
          </p:nvSpPr>
          <p:spPr>
            <a:xfrm>
              <a:off x="7810500" y="2857500"/>
              <a:ext cx="3429000" cy="1333500"/>
            </a:xfrm>
            <a:prstGeom prst="roundRect">
              <a:avLst>
                <a:gd name="adj" fmla="val 11429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088630" y="3124200"/>
              <a:ext cx="218471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Валидация человеком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090916" y="3506152"/>
              <a:ext cx="255270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Отправку наружу, подписания делает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090916" y="3744278"/>
              <a:ext cx="259519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человек. Агент только готовит драфт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091297" y="3752374"/>
              <a:ext cx="142745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и помогает с ревизией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571500" y="4381500"/>
            <a:ext cx="11854321" cy="1714500"/>
            <a:chOff x="571500" y="4381500"/>
            <a:chExt cx="11854321" cy="1714500"/>
          </a:xfrm>
        </p:grpSpPr>
        <p:sp>
          <p:nvSpPr>
            <p:cNvPr id="30" name="Rectangle 30"/>
            <p:cNvSpPr/>
            <p:nvPr/>
          </p:nvSpPr>
          <p:spPr>
            <a:xfrm>
              <a:off x="571500" y="4381500"/>
              <a:ext cx="11049000" cy="1714500"/>
            </a:xfrm>
            <a:prstGeom prst="roundRect">
              <a:avLst>
                <a:gd name="adj" fmla="val 8889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46404" y="4728210"/>
              <a:ext cx="13324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Из чего выросло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46785" y="5117306"/>
              <a:ext cx="65803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Основа: anthropics/claude-for-legal (Anthropic, Apache-2.0) — 151 навык в 12 плагинах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46785" y="5450681"/>
              <a:ext cx="6002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Адаптация (Osmosy, Apache-2.0) — русское право + Hermes Agent + расширения: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47166" y="5696902"/>
              <a:ext cx="114786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протоколы разногласий вместо redline • kad.arbitr/pravo.gov.ru вместо CourtListener • ЕГРЮЛ/ФИПС вместо SEC/USPTO • 4-ступенчатый контракт для cron-агентов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566738" y="6570345"/>
            <a:ext cx="3487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2 / 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548278" y="6570345"/>
            <a:ext cx="226748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Vector Legal · Hermes Agent · Оsmosy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6166" y="553402"/>
            <a:ext cx="150795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02 · Как это работает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" y="819150"/>
            <a:ext cx="719697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4 шага от установки до продакшена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333500"/>
            <a:ext cx="1143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grpSp>
        <p:nvGrpSpPr>
          <p:cNvPr id="15" name="Group 15"/>
          <p:cNvGrpSpPr/>
          <p:nvPr/>
        </p:nvGrpSpPr>
        <p:grpSpPr>
          <a:xfrm>
            <a:off x="762000" y="1809750"/>
            <a:ext cx="2667000" cy="2190750"/>
            <a:chOff x="762000" y="1809750"/>
            <a:chExt cx="2667000" cy="2190750"/>
          </a:xfrm>
        </p:grpSpPr>
        <p:sp>
          <p:nvSpPr>
            <p:cNvPr id="9" name="Rectangle 9"/>
            <p:cNvSpPr/>
            <p:nvPr/>
          </p:nvSpPr>
          <p:spPr>
            <a:xfrm>
              <a:off x="762000" y="1809750"/>
              <a:ext cx="2667000" cy="2190750"/>
            </a:xfrm>
            <a:prstGeom prst="roundRect">
              <a:avLst>
                <a:gd name="adj" fmla="val 6957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1771650" y="2057400"/>
              <a:ext cx="647700" cy="647700"/>
            </a:xfrm>
            <a:prstGeom prst="ellipse">
              <a:avLst/>
            </a:prstGeom>
            <a:solidFill>
              <a:srgbClr val="0EA5E9">
                <a:alpha val="30000"/>
              </a:srgbClr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996609" y="2233612"/>
              <a:ext cx="19778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2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613383" y="2854642"/>
              <a:ext cx="9642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Установка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84465" y="3144202"/>
              <a:ext cx="162206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git clone + подключение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562233" y="3353752"/>
              <a:ext cx="1066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в Hermes Agent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810000" y="1809750"/>
            <a:ext cx="2667000" cy="2190750"/>
            <a:chOff x="3810000" y="1809750"/>
            <a:chExt cx="2667000" cy="2190750"/>
          </a:xfrm>
        </p:grpSpPr>
        <p:sp>
          <p:nvSpPr>
            <p:cNvPr id="16" name="Rectangle 16"/>
            <p:cNvSpPr/>
            <p:nvPr/>
          </p:nvSpPr>
          <p:spPr>
            <a:xfrm>
              <a:off x="3810000" y="1809750"/>
              <a:ext cx="2667000" cy="2190750"/>
            </a:xfrm>
            <a:prstGeom prst="roundRect">
              <a:avLst>
                <a:gd name="adj" fmla="val 6957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7" name="Ellipse 17"/>
            <p:cNvSpPr/>
            <p:nvPr/>
          </p:nvSpPr>
          <p:spPr>
            <a:xfrm>
              <a:off x="4819650" y="2057400"/>
              <a:ext cx="647700" cy="647700"/>
            </a:xfrm>
            <a:prstGeom prst="ellipse">
              <a:avLst/>
            </a:prstGeom>
            <a:solidFill>
              <a:srgbClr val="0EA5E9">
                <a:alpha val="30000"/>
              </a:srgbClr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044609" y="2233612"/>
              <a:ext cx="19778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2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184132" y="2854642"/>
              <a:ext cx="19187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Cold-start интервью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198182" y="3172778"/>
              <a:ext cx="189063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2–15 минут · 10–92 вопроса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178254" y="3382328"/>
              <a:ext cx="193049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Извлекает playbook команды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858000" y="1809750"/>
            <a:ext cx="2667000" cy="2190750"/>
            <a:chOff x="6858000" y="1809750"/>
            <a:chExt cx="2667000" cy="2190750"/>
          </a:xfrm>
        </p:grpSpPr>
        <p:sp>
          <p:nvSpPr>
            <p:cNvPr id="23" name="Rectangle 23"/>
            <p:cNvSpPr/>
            <p:nvPr/>
          </p:nvSpPr>
          <p:spPr>
            <a:xfrm>
              <a:off x="6858000" y="1809750"/>
              <a:ext cx="2667000" cy="2190750"/>
            </a:xfrm>
            <a:prstGeom prst="roundRect">
              <a:avLst>
                <a:gd name="adj" fmla="val 6957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7867650" y="2057400"/>
              <a:ext cx="647700" cy="647700"/>
            </a:xfrm>
            <a:prstGeom prst="ellipse">
              <a:avLst/>
            </a:prstGeom>
            <a:solidFill>
              <a:srgbClr val="0EA5E9">
                <a:alpha val="30000"/>
              </a:srgbClr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092609" y="2233612"/>
              <a:ext cx="19778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2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470728" y="2854642"/>
              <a:ext cx="14415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Работа навыков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360055" y="3172778"/>
              <a:ext cx="16628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Ревизия / триаж / драфт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366330" y="3382328"/>
              <a:ext cx="16503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по внутренним правилам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906000" y="1809750"/>
            <a:ext cx="2667000" cy="2190750"/>
            <a:chOff x="9906000" y="1809750"/>
            <a:chExt cx="2667000" cy="2190750"/>
          </a:xfrm>
        </p:grpSpPr>
        <p:sp>
          <p:nvSpPr>
            <p:cNvPr id="30" name="Rectangle 30"/>
            <p:cNvSpPr/>
            <p:nvPr/>
          </p:nvSpPr>
          <p:spPr>
            <a:xfrm>
              <a:off x="9906000" y="1809750"/>
              <a:ext cx="2667000" cy="2190750"/>
            </a:xfrm>
            <a:prstGeom prst="roundRect">
              <a:avLst>
                <a:gd name="adj" fmla="val 6957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10915650" y="2057400"/>
              <a:ext cx="647700" cy="647700"/>
            </a:xfrm>
            <a:prstGeom prst="ellipse">
              <a:avLst/>
            </a:prstGeom>
            <a:solidFill>
              <a:srgbClr val="0EA5E9">
                <a:alpha val="30000"/>
              </a:srgbClr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1140609" y="2233612"/>
              <a:ext cx="19778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2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4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704906" y="2854642"/>
              <a:ext cx="10691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Мониторинг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707634" y="3172778"/>
              <a:ext cx="10637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5 cron-агентов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402572" y="3382328"/>
              <a:ext cx="16738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НПА · продления · споры</a:t>
              </a:r>
            </a:p>
          </p:txBody>
        </p:sp>
      </p:grpSp>
      <p:sp>
        <p:nvSpPr>
          <p:cNvPr id="37" name="Line 37"/>
          <p:cNvSpPr/>
          <p:nvPr/>
        </p:nvSpPr>
        <p:spPr>
          <a:xfrm>
            <a:off x="3476625" y="2905125"/>
            <a:ext cx="285750" cy="9525"/>
          </a:xfrm>
          <a:custGeom>
            <a:avLst/>
            <a:gdLst/>
            <a:ahLst/>
            <a:cxnLst/>
            <a:rect l="l" t="t" r="r" b="b"/>
            <a:pathLst>
              <a:path w="285750" h="9525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38BDF8"/>
            </a:solidFill>
          </a:ln>
        </p:spPr>
      </p:sp>
      <p:sp>
        <p:nvSpPr>
          <p:cNvPr id="38" name="Line 38"/>
          <p:cNvSpPr/>
          <p:nvPr/>
        </p:nvSpPr>
        <p:spPr>
          <a:xfrm>
            <a:off x="6524625" y="2905125"/>
            <a:ext cx="285750" cy="9525"/>
          </a:xfrm>
          <a:custGeom>
            <a:avLst/>
            <a:gdLst/>
            <a:ahLst/>
            <a:cxnLst/>
            <a:rect l="l" t="t" r="r" b="b"/>
            <a:pathLst>
              <a:path w="285750" h="9525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38BDF8"/>
            </a:solidFill>
          </a:ln>
        </p:spPr>
      </p:sp>
      <p:sp>
        <p:nvSpPr>
          <p:cNvPr id="39" name="Line 39"/>
          <p:cNvSpPr/>
          <p:nvPr/>
        </p:nvSpPr>
        <p:spPr>
          <a:xfrm>
            <a:off x="9572625" y="2905125"/>
            <a:ext cx="285750" cy="9525"/>
          </a:xfrm>
          <a:custGeom>
            <a:avLst/>
            <a:gdLst/>
            <a:ahLst/>
            <a:cxnLst/>
            <a:rect l="l" t="t" r="r" b="b"/>
            <a:pathLst>
              <a:path w="285750" h="9525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38BDF8"/>
            </a:solidFill>
          </a:ln>
        </p:spPr>
      </p:sp>
      <p:grpSp>
        <p:nvGrpSpPr>
          <p:cNvPr id="46" name="Group 46"/>
          <p:cNvGrpSpPr/>
          <p:nvPr/>
        </p:nvGrpSpPr>
        <p:grpSpPr>
          <a:xfrm>
            <a:off x="762000" y="4667250"/>
            <a:ext cx="10668000" cy="1663637"/>
            <a:chOff x="762000" y="4667250"/>
            <a:chExt cx="10668000" cy="1663637"/>
          </a:xfrm>
        </p:grpSpPr>
        <p:sp>
          <p:nvSpPr>
            <p:cNvPr id="40" name="Rectangle 40"/>
            <p:cNvSpPr/>
            <p:nvPr/>
          </p:nvSpPr>
          <p:spPr>
            <a:xfrm>
              <a:off x="762000" y="4667250"/>
              <a:ext cx="10668000" cy="1619250"/>
            </a:xfrm>
            <a:prstGeom prst="roundRect">
              <a:avLst>
                <a:gd name="adj" fmla="val 9412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040892" y="4902518"/>
              <a:ext cx="21363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Режим «Без настройки»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42035" y="5307806"/>
              <a:ext cx="4690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До подключения practice profile агент работает с дефолтами РФ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42035" y="5574506"/>
              <a:ext cx="40702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(средний риск-аппетит, типовые позиции по законам).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42035" y="5841206"/>
              <a:ext cx="48329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Каждый выход помечается меткой — «требует настройки профиля».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42416" y="6125528"/>
              <a:ext cx="471436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Для калибровки — cold-start interview. Юрист отвечает 2-15 минут,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566738" y="6570345"/>
            <a:ext cx="3487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3 / 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548278" y="6570345"/>
            <a:ext cx="226748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Vector Legal · Hermes Agent · Оsmosy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6166" y="553402"/>
            <a:ext cx="120208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03 · Домены · 1/2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" y="819150"/>
            <a:ext cx="494949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6 основных направлений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333500"/>
            <a:ext cx="1143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grpSp>
        <p:nvGrpSpPr>
          <p:cNvPr id="13" name="Group 13"/>
          <p:cNvGrpSpPr/>
          <p:nvPr/>
        </p:nvGrpSpPr>
        <p:grpSpPr>
          <a:xfrm>
            <a:off x="571500" y="1714500"/>
            <a:ext cx="5334000" cy="1333500"/>
            <a:chOff x="571500" y="1714500"/>
            <a:chExt cx="5334000" cy="1333500"/>
          </a:xfrm>
        </p:grpSpPr>
        <p:sp>
          <p:nvSpPr>
            <p:cNvPr id="9" name="Rectangle 9"/>
            <p:cNvSpPr/>
            <p:nvPr/>
          </p:nvSpPr>
          <p:spPr>
            <a:xfrm>
              <a:off x="571500" y="1714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02767" y="1968818"/>
              <a:ext cx="217612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Коммерческие договоры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04672" y="2295049"/>
              <a:ext cx="365695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Ревизия входящих договоров против playbook, NDA-триаж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04862" y="2712720"/>
              <a:ext cx="241178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ГК 15/330/401/425/452 · ч. 5 ст. 4 АПК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286500" y="1714500"/>
            <a:ext cx="5334000" cy="1333500"/>
            <a:chOff x="6286500" y="1714500"/>
            <a:chExt cx="5334000" cy="1333500"/>
          </a:xfrm>
        </p:grpSpPr>
        <p:sp>
          <p:nvSpPr>
            <p:cNvPr id="14" name="Rectangle 14"/>
            <p:cNvSpPr/>
            <p:nvPr/>
          </p:nvSpPr>
          <p:spPr>
            <a:xfrm>
              <a:off x="6286500" y="1714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517767" y="1968818"/>
              <a:ext cx="19662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Персональные данные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519672" y="2295049"/>
              <a:ext cx="378706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152-ФЗ: оператор/поручитель, запросы субъектов, утечки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519862" y="2712720"/>
              <a:ext cx="306165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ст. 6/9/12/14/18.1/21 — ТИПЗ ФСТЭК — КоАП 13.11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571500" y="3238500"/>
            <a:ext cx="5334000" cy="1333500"/>
            <a:chOff x="571500" y="3238500"/>
            <a:chExt cx="5334000" cy="1333500"/>
          </a:xfrm>
        </p:grpSpPr>
        <p:sp>
          <p:nvSpPr>
            <p:cNvPr id="19" name="Rectangle 19"/>
            <p:cNvSpPr/>
            <p:nvPr/>
          </p:nvSpPr>
          <p:spPr>
            <a:xfrm>
              <a:off x="571500" y="3238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02767" y="3492818"/>
              <a:ext cx="19662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Корпоративное право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04672" y="3819049"/>
              <a:ext cx="38814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Одобрения, протоколы 181.2 ГК, DD dataroom, M&amp;A с эскроу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04862" y="4236720"/>
              <a:ext cx="318864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ФЗ-14 ст. 38/45/46 · ФЗ-208 ст. 79/84 · ФЗ-135 ФАС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286500" y="3238500"/>
            <a:ext cx="5334000" cy="1333500"/>
            <a:chOff x="6286500" y="3238500"/>
            <a:chExt cx="5334000" cy="1333500"/>
          </a:xfrm>
        </p:grpSpPr>
        <p:sp>
          <p:nvSpPr>
            <p:cNvPr id="24" name="Rectangle 24"/>
            <p:cNvSpPr/>
            <p:nvPr/>
          </p:nvSpPr>
          <p:spPr>
            <a:xfrm>
              <a:off x="6286500" y="3238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517767" y="3492818"/>
              <a:ext cx="14415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Трудовое право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519672" y="3819049"/>
              <a:ext cx="435972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Найм → увольнение → ЛНА. Ат-вилл не работает (закрытый перечень)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519862" y="4236720"/>
              <a:ext cx="293731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ТК 15/57/70/77-83/180/193/373 — Пленум ВС №15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571500" y="4762500"/>
            <a:ext cx="5334000" cy="1333500"/>
            <a:chOff x="571500" y="4762500"/>
            <a:chExt cx="5334000" cy="1333500"/>
          </a:xfrm>
        </p:grpSpPr>
        <p:sp>
          <p:nvSpPr>
            <p:cNvPr id="29" name="Rectangle 29"/>
            <p:cNvSpPr/>
            <p:nvPr/>
          </p:nvSpPr>
          <p:spPr>
            <a:xfrm>
              <a:off x="571500" y="4762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02767" y="5016818"/>
              <a:ext cx="15464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Судебная работа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04672" y="5343049"/>
              <a:ext cx="388299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Досудебный порядок ч. 5 ст. 4 АПК, kad.arbitr, claim-chart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04862" y="5760720"/>
              <a:ext cx="301762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АПК 4/66/72/88/125/131/259/276 — Пленумы ВС РФ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6286500" y="4762500"/>
            <a:ext cx="5334000" cy="1333500"/>
            <a:chOff x="6286500" y="4762500"/>
            <a:chExt cx="5334000" cy="1333500"/>
          </a:xfrm>
        </p:grpSpPr>
        <p:sp>
          <p:nvSpPr>
            <p:cNvPr id="34" name="Rectangle 34"/>
            <p:cNvSpPr/>
            <p:nvPr/>
          </p:nvSpPr>
          <p:spPr>
            <a:xfrm>
              <a:off x="6286500" y="4762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17767" y="5016818"/>
              <a:ext cx="12861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ИИ-гавернанс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519672" y="5343049"/>
              <a:ext cx="38973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Реестр ИИ-систем, AIA, вендорские ИИ-оговорки, shadow-AI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519862" y="5760720"/>
              <a:ext cx="351863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ЭПР ФЗ-123 [verify] — ГОСТ Р 59276 — 152-ФЗ — 187-ФЗ КИИ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566738" y="6570345"/>
            <a:ext cx="3487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4 / 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548278" y="6570345"/>
            <a:ext cx="226748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Vector Legal · Hermes Agent · Оsmosy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6166" y="553402"/>
            <a:ext cx="120208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03 · Домены · 2/2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" y="819150"/>
            <a:ext cx="634887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6 дополнительных направлений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333500"/>
            <a:ext cx="1143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grpSp>
        <p:nvGrpSpPr>
          <p:cNvPr id="13" name="Group 13"/>
          <p:cNvGrpSpPr/>
          <p:nvPr/>
        </p:nvGrpSpPr>
        <p:grpSpPr>
          <a:xfrm>
            <a:off x="571500" y="1714500"/>
            <a:ext cx="5334000" cy="1333500"/>
            <a:chOff x="571500" y="1714500"/>
            <a:chExt cx="5334000" cy="1333500"/>
          </a:xfrm>
        </p:grpSpPr>
        <p:sp>
          <p:nvSpPr>
            <p:cNvPr id="9" name="Rectangle 9"/>
            <p:cNvSpPr/>
            <p:nvPr/>
          </p:nvSpPr>
          <p:spPr>
            <a:xfrm>
              <a:off x="571500" y="1714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02767" y="1968818"/>
              <a:ext cx="238602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Регуляторный мониторинг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04672" y="2295049"/>
              <a:ext cx="35915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pravo.gov.ru, гильотина ПП №1128, 44-ФЗ/223-ФЗ, ФАС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04862" y="2712720"/>
              <a:ext cx="354003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Отраслевые: Минсельхоз / Россельхознадзор / Минпромторг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286500" y="1714500"/>
            <a:ext cx="5334000" cy="1333500"/>
            <a:chOff x="6286500" y="1714500"/>
            <a:chExt cx="5334000" cy="1333500"/>
          </a:xfrm>
        </p:grpSpPr>
        <p:sp>
          <p:nvSpPr>
            <p:cNvPr id="14" name="Rectangle 14"/>
            <p:cNvSpPr/>
            <p:nvPr/>
          </p:nvSpPr>
          <p:spPr>
            <a:xfrm>
              <a:off x="6286500" y="1714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517767" y="1968818"/>
              <a:ext cx="31206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Интеллектуальная собственность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519672" y="2295049"/>
              <a:ext cx="399103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Clearance по ФИПС, takedown ст. 1253.1, OSS-совместимость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519862" y="2712720"/>
              <a:ext cx="375311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ГК ч. 4: 1225-1254 · 1354-1375 · СИПН · патентный поверенный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571500" y="3238500"/>
            <a:ext cx="5334000" cy="1333500"/>
            <a:chOff x="571500" y="3238500"/>
            <a:chExt cx="5334000" cy="1333500"/>
          </a:xfrm>
        </p:grpSpPr>
        <p:sp>
          <p:nvSpPr>
            <p:cNvPr id="19" name="Rectangle 19"/>
            <p:cNvSpPr/>
            <p:nvPr/>
          </p:nvSpPr>
          <p:spPr>
            <a:xfrm>
              <a:off x="571500" y="3238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02767" y="3492818"/>
              <a:ext cx="19187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Продукты и лицензии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04672" y="3819049"/>
              <a:ext cx="37222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Launch-review, реклама ФЗ-38 + ЕРИР-маркировка, ЗоЗПП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04862" y="4236720"/>
              <a:ext cx="325910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Оферта 437/428 ГК + политика 152-ФЗ + ФЗ-161/115/54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286500" y="3238500"/>
            <a:ext cx="5334000" cy="1333500"/>
            <a:chOff x="6286500" y="3238500"/>
            <a:chExt cx="5334000" cy="1333500"/>
          </a:xfrm>
        </p:grpSpPr>
        <p:sp>
          <p:nvSpPr>
            <p:cNvPr id="24" name="Rectangle 24"/>
            <p:cNvSpPr/>
            <p:nvPr/>
          </p:nvSpPr>
          <p:spPr>
            <a:xfrm>
              <a:off x="6286500" y="3238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517767" y="3492818"/>
              <a:ext cx="1861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Обучение студентов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519672" y="3819049"/>
              <a:ext cx="392356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LEARNING MODE — Socratic, IRAC-анализ, case brief по ВС РФ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519862" y="4236720"/>
              <a:ext cx="250888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Экзамен на статус адвоката ФЗ-63 гл. 2-3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571500" y="4762500"/>
            <a:ext cx="5334000" cy="1333500"/>
            <a:chOff x="571500" y="4762500"/>
            <a:chExt cx="5334000" cy="1333500"/>
          </a:xfrm>
        </p:grpSpPr>
        <p:sp>
          <p:nvSpPr>
            <p:cNvPr id="29" name="Rectangle 29"/>
            <p:cNvSpPr/>
            <p:nvPr/>
          </p:nvSpPr>
          <p:spPr>
            <a:xfrm>
              <a:off x="571500" y="4762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02767" y="5016818"/>
              <a:ext cx="19662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Юридические клиники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04672" y="5343049"/>
              <a:ext cx="346508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ФЗ-324, супервизор проверяет каждое письмо клиенту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04862" y="5760720"/>
              <a:ext cx="307671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Согласие 152-ФЗ + intake + семестровая отчётность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6286500" y="4762500"/>
            <a:ext cx="5334000" cy="1333500"/>
            <a:chOff x="6286500" y="4762500"/>
            <a:chExt cx="5334000" cy="1333500"/>
          </a:xfrm>
        </p:grpSpPr>
        <p:sp>
          <p:nvSpPr>
            <p:cNvPr id="34" name="Rectangle 34"/>
            <p:cNvSpPr/>
            <p:nvPr/>
          </p:nvSpPr>
          <p:spPr>
            <a:xfrm>
              <a:off x="6286500" y="4762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17767" y="5016818"/>
              <a:ext cx="15464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Каталог навыков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519672" y="5343049"/>
              <a:ext cx="35607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Установка, QA 740 строк (13 параметров), SHA-pinning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519862" y="5760720"/>
              <a:ext cx="310302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Injection-scan при установке каждого чужого навыка</a:t>
              </a:r>
            </a:p>
          </p:txBody>
        </p:sp>
      </p:grpSp>
      <p:sp>
        <p:nvSpPr>
          <p:cNvPr id="39" name="Rectangle 39"/>
          <p:cNvSpPr/>
          <p:nvPr/>
        </p:nvSpPr>
        <p:spPr>
          <a:xfrm>
            <a:off x="571500" y="6191250"/>
            <a:ext cx="11049000" cy="381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566547" y="6295549"/>
            <a:ext cx="8405330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94A3B8"/>
                </a:solidFill>
                <a:latin typeface="Inter"/>
                <a:ea typeface="Inter"/>
                <a:cs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66738" y="6570345"/>
            <a:ext cx="3487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5 / 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548278" y="6570345"/>
            <a:ext cx="226748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Vector Legal · Hermes Agent · Оsmosy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6166" y="553402"/>
            <a:ext cx="118991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04 · Архитектура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" y="819150"/>
            <a:ext cx="615187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Профиль практики — ядро всея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333500"/>
            <a:ext cx="1143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564642" y="1664018"/>
            <a:ext cx="738708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762000" y="2190750"/>
            <a:ext cx="10668000" cy="1765459"/>
            <a:chOff x="762000" y="2190750"/>
            <a:chExt cx="10668000" cy="1765459"/>
          </a:xfrm>
        </p:grpSpPr>
        <p:sp>
          <p:nvSpPr>
            <p:cNvPr id="10" name="Rectangle 10"/>
            <p:cNvSpPr/>
            <p:nvPr/>
          </p:nvSpPr>
          <p:spPr>
            <a:xfrm>
              <a:off x="762000" y="2190750"/>
              <a:ext cx="10668000" cy="1714500"/>
            </a:xfrm>
            <a:prstGeom prst="roundRect">
              <a:avLst>
                <a:gd name="adj" fmla="val 8889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136142" y="2473642"/>
              <a:ext cx="50490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Файл практики — ~/.hermes/legal/&lt;домен&gt;/CLAUDE.md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37285" y="2878931"/>
              <a:ext cx="69807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Внутренние позиции (лимит ответственности, indemnity, 152-ФЗ, сроки, суд) — обе стороны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7285" y="3164681"/>
              <a:ext cx="31591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Матрица эскалаций с денежными порогами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37285" y="3164681"/>
              <a:ext cx="73471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Общий стиль, seed-документы (реальные подписанные договоры), главная «штука» / deal-breaker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37285" y="3736181"/>
              <a:ext cx="6180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[Плейсхолдеры] до cold-start — все навыки работают в режиме «требует настройки»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762000" y="4191000"/>
            <a:ext cx="5143500" cy="2095500"/>
            <a:chOff x="762000" y="4191000"/>
            <a:chExt cx="5143500" cy="2095500"/>
          </a:xfrm>
        </p:grpSpPr>
        <p:sp>
          <p:nvSpPr>
            <p:cNvPr id="17" name="Rectangle 17"/>
            <p:cNvSpPr/>
            <p:nvPr/>
          </p:nvSpPr>
          <p:spPr>
            <a:xfrm>
              <a:off x="762000" y="4191000"/>
              <a:ext cx="5143500" cy="2095500"/>
            </a:xfrm>
            <a:prstGeom prst="roundRect">
              <a:avLst>
                <a:gd name="adj" fmla="val 727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40892" y="4473892"/>
              <a:ext cx="30355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Общие правила — в каждом навыке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42416" y="4887278"/>
              <a:ext cx="342230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Замечание ревизору — один блок над документом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42416" y="5173028"/>
              <a:ext cx="224840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Решение-дерево «Что дальше?»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42416" y="5458778"/>
              <a:ext cx="381570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Проверка на конфиденциальность (Destination check)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42416" y="5744528"/>
              <a:ext cx="407951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Указание источника цитаты, большой ввод, актуальность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6286500" y="4191000"/>
            <a:ext cx="5143500" cy="2095500"/>
            <a:chOff x="6286500" y="4191000"/>
            <a:chExt cx="5143500" cy="2095500"/>
          </a:xfrm>
        </p:grpSpPr>
        <p:sp>
          <p:nvSpPr>
            <p:cNvPr id="24" name="Rectangle 24"/>
            <p:cNvSpPr/>
            <p:nvPr/>
          </p:nvSpPr>
          <p:spPr>
            <a:xfrm>
              <a:off x="6286500" y="4191000"/>
              <a:ext cx="5143500" cy="2095500"/>
            </a:xfrm>
            <a:prstGeom prst="roundRect">
              <a:avLst>
                <a:gd name="adj" fmla="val 727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565392" y="4473892"/>
              <a:ext cx="19662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Валидация человеком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566916" y="4887278"/>
              <a:ext cx="465920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Takedown, претензия, подписание — плагин только готовит драфт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566916" y="5173028"/>
              <a:ext cx="26382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Отправка — человек (никогда агент)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566916" y="5458778"/>
              <a:ext cx="335004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Патентные поверенные — обязательны (ФЗ-316)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566916" y="5744528"/>
              <a:ext cx="43523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Заявки в Роспатент, споры СИПН — только intake, дальше юрист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566738" y="6570345"/>
            <a:ext cx="3487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6 / 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548278" y="6570345"/>
            <a:ext cx="226748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Vector Legal · Hermes Agent · Оsmosy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6166" y="553402"/>
            <a:ext cx="169834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05 · Агенты мониторинга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" y="819150"/>
            <a:ext cx="753621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5 автономных агентов по расписанию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333500"/>
            <a:ext cx="1143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grpSp>
        <p:nvGrpSpPr>
          <p:cNvPr id="14" name="Group 14"/>
          <p:cNvGrpSpPr/>
          <p:nvPr/>
        </p:nvGrpSpPr>
        <p:grpSpPr>
          <a:xfrm>
            <a:off x="762000" y="1809750"/>
            <a:ext cx="5143500" cy="1428750"/>
            <a:chOff x="762000" y="1809750"/>
            <a:chExt cx="5143500" cy="1428750"/>
          </a:xfrm>
        </p:grpSpPr>
        <p:sp>
          <p:nvSpPr>
            <p:cNvPr id="9" name="Rectangle 9"/>
            <p:cNvSpPr/>
            <p:nvPr/>
          </p:nvSpPr>
          <p:spPr>
            <a:xfrm>
              <a:off x="762000" y="1809750"/>
              <a:ext cx="5143500" cy="1428750"/>
            </a:xfrm>
            <a:prstGeom prst="roundRect">
              <a:avLst>
                <a:gd name="adj" fmla="val 9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41273" y="2100739"/>
              <a:ext cx="1081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Монитор НПА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42797" y="2466499"/>
              <a:ext cx="35001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Понедельник 09:00 — pravo.gov.ru, regulation.gov.ru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42797" y="2704624"/>
              <a:ext cx="367631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Проверка материальности, разрывы, еженедельный digest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42988" y="2950845"/>
              <a:ext cx="235188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64748B"/>
                  </a:solidFill>
                  <a:latin typeface="Inter"/>
                  <a:ea typeface="Inter"/>
                  <a:cs typeface="Inter"/>
                </a:rPr>
                <a:t>Направление: регуляторный мониторинг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286500" y="1809750"/>
            <a:ext cx="5143500" cy="1428750"/>
            <a:chOff x="6286500" y="1809750"/>
            <a:chExt cx="5143500" cy="1428750"/>
          </a:xfrm>
        </p:grpSpPr>
        <p:sp>
          <p:nvSpPr>
            <p:cNvPr id="15" name="Rectangle 15"/>
            <p:cNvSpPr/>
            <p:nvPr/>
          </p:nvSpPr>
          <p:spPr>
            <a:xfrm>
              <a:off x="6286500" y="1809750"/>
              <a:ext cx="5143500" cy="1428750"/>
            </a:xfrm>
            <a:prstGeom prst="roundRect">
              <a:avLst>
                <a:gd name="adj" fmla="val 9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565773" y="2100739"/>
              <a:ext cx="16587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Монитор продлений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567297" y="2466499"/>
              <a:ext cx="321127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Понедельник 09:00 — договоры, дедлайн cancel-by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567297" y="2704624"/>
              <a:ext cx="253060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Дата отправки с учётом бизнес-дней РФ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567488" y="2950845"/>
              <a:ext cx="221862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64748B"/>
                  </a:solidFill>
                  <a:latin typeface="Inter"/>
                  <a:ea typeface="Inter"/>
                  <a:cs typeface="Inter"/>
                </a:rPr>
                <a:t>Направление: коммерческие договоры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762000" y="3476625"/>
            <a:ext cx="5143500" cy="1428750"/>
            <a:chOff x="762000" y="3476625"/>
            <a:chExt cx="5143500" cy="1428750"/>
          </a:xfrm>
        </p:grpSpPr>
        <p:sp>
          <p:nvSpPr>
            <p:cNvPr id="21" name="Rectangle 21"/>
            <p:cNvSpPr/>
            <p:nvPr/>
          </p:nvSpPr>
          <p:spPr>
            <a:xfrm>
              <a:off x="762000" y="3476625"/>
              <a:ext cx="5143500" cy="1428750"/>
            </a:xfrm>
            <a:prstGeom prst="roundRect">
              <a:avLst>
                <a:gd name="adj" fmla="val 9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41273" y="3767614"/>
              <a:ext cx="191124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Монитор судебных дел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42797" y="4133374"/>
              <a:ext cx="32351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Ежедневно 08:00 — kad.arbitr.ru, sudrf.ru, ФИПС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42797" y="4371499"/>
              <a:ext cx="25870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Новые подачи, дедлайны, постановления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42988" y="4617720"/>
              <a:ext cx="323515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64748B"/>
                  </a:solidFill>
                  <a:latin typeface="Inter"/>
                  <a:ea typeface="Inter"/>
                  <a:cs typeface="Inter"/>
                </a:rPr>
                <a:t>Если дедлайн меньше 14 дней — уведомление в Telegram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6286500" y="3476625"/>
            <a:ext cx="5143500" cy="1428750"/>
            <a:chOff x="6286500" y="3476625"/>
            <a:chExt cx="5143500" cy="1428750"/>
          </a:xfrm>
        </p:grpSpPr>
        <p:sp>
          <p:nvSpPr>
            <p:cNvPr id="27" name="Rectangle 27"/>
            <p:cNvSpPr/>
            <p:nvPr/>
          </p:nvSpPr>
          <p:spPr>
            <a:xfrm>
              <a:off x="6286500" y="3476625"/>
              <a:ext cx="5143500" cy="1428750"/>
            </a:xfrm>
            <a:prstGeom prst="roundRect">
              <a:avLst>
                <a:gd name="adj" fmla="val 9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565773" y="3767614"/>
              <a:ext cx="25058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Монитор запусков продуктов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567297" y="4133374"/>
              <a:ext cx="262715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Понедельник 10:00 — продуктовый трекер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567297" y="4371499"/>
              <a:ext cx="31600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9-категорийный фреймворк — риск-классификация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567488" y="4617720"/>
              <a:ext cx="195211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64748B"/>
                  </a:solidFill>
                  <a:latin typeface="Inter"/>
                  <a:ea typeface="Inter"/>
                  <a:cs typeface="Inter"/>
                </a:rPr>
                <a:t>Направление: продуктовый юрист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62000" y="5191125"/>
            <a:ext cx="5143500" cy="1143000"/>
            <a:chOff x="762000" y="5191125"/>
            <a:chExt cx="5143500" cy="1143000"/>
          </a:xfrm>
        </p:grpSpPr>
        <p:sp>
          <p:nvSpPr>
            <p:cNvPr id="33" name="Rectangle 33"/>
            <p:cNvSpPr/>
            <p:nvPr/>
          </p:nvSpPr>
          <p:spPr>
            <a:xfrm>
              <a:off x="762000" y="5191125"/>
              <a:ext cx="5143500" cy="1143000"/>
            </a:xfrm>
            <a:prstGeom prst="roundRect">
              <a:avLst>
                <a:gd name="adj" fmla="val 11667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041273" y="5482114"/>
              <a:ext cx="18604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Таблица DD dataroom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42797" y="5847874"/>
              <a:ext cx="3151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Под конкретную сделку — пакетная обработка VDR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42988" y="6094095"/>
              <a:ext cx="9484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64748B"/>
                  </a:solidFill>
                  <a:latin typeface="Inter"/>
                  <a:ea typeface="Inter"/>
                  <a:cs typeface="Inter"/>
                </a:rPr>
                <a:t>corporate-legal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6286500" y="5191125"/>
            <a:ext cx="5143500" cy="1143000"/>
            <a:chOff x="6286500" y="5191125"/>
            <a:chExt cx="5143500" cy="1143000"/>
          </a:xfrm>
        </p:grpSpPr>
        <p:sp>
          <p:nvSpPr>
            <p:cNvPr id="38" name="Rectangle 38"/>
            <p:cNvSpPr/>
            <p:nvPr/>
          </p:nvSpPr>
          <p:spPr>
            <a:xfrm>
              <a:off x="6286500" y="5191125"/>
              <a:ext cx="5143500" cy="1143000"/>
            </a:xfrm>
            <a:prstGeom prst="roundRect">
              <a:avLst>
                <a:gd name="adj" fmla="val 11667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65773" y="5482114"/>
              <a:ext cx="18570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Модель безопасности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567297" y="5800249"/>
              <a:ext cx="38406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Только чтение до leaf · пишущий лист один — для результата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567297" y="6038374"/>
              <a:ext cx="336808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No external send без подтверждения · lead, не вывод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566738" y="6570345"/>
            <a:ext cx="3487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7 / 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548278" y="6570345"/>
            <a:ext cx="226748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Vector Legal · Hermes Agent · Оsmosy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6166" y="553402"/>
            <a:ext cx="21293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06 · Подключение правовых баз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" y="819150"/>
            <a:ext cx="58108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MCP-коннекторы к РФ-базам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333500"/>
            <a:ext cx="1143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565404" y="1680210"/>
            <a:ext cx="576877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65785" y="1974056"/>
            <a:ext cx="65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94A3B8"/>
                </a:solidFill>
                <a:latin typeface="Inter"/>
                <a:ea typeface="Inter"/>
                <a:cs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4642" y="2521268"/>
            <a:ext cx="165141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Доступны сегодня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762000" y="2952750"/>
            <a:ext cx="5143500" cy="1619250"/>
            <a:chOff x="762000" y="2952750"/>
            <a:chExt cx="5143500" cy="1619250"/>
          </a:xfrm>
        </p:grpSpPr>
        <p:sp>
          <p:nvSpPr>
            <p:cNvPr id="12" name="Rectangle 12"/>
            <p:cNvSpPr/>
            <p:nvPr/>
          </p:nvSpPr>
          <p:spPr>
            <a:xfrm>
              <a:off x="762000" y="2952750"/>
              <a:ext cx="5143500" cy="1619250"/>
            </a:xfrm>
            <a:prstGeom prst="roundRect">
              <a:avLst>
                <a:gd name="adj" fmla="val 8235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41654" y="3251835"/>
              <a:ext cx="338282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atomno-mcp (13 серверов, Python, MIT)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42797" y="3609499"/>
              <a:ext cx="291691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ЕГРЮЛ / ЕГРИП — через ФНС открытые данные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42797" y="3895249"/>
              <a:ext cx="351563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Контрагент одним вызовом — ЕФРСБ, Картотека, ФССП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42797" y="4180999"/>
              <a:ext cx="20935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sudact — судебная практика РФ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42988" y="4379595"/>
              <a:ext cx="432736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+ Товарные знаки ФИПС.Роспатент, Росреестр, закупки 44/223-ФЗ, ЕРИР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286500" y="2952750"/>
            <a:ext cx="5143500" cy="1619250"/>
            <a:chOff x="6286500" y="2952750"/>
            <a:chExt cx="5143500" cy="1619250"/>
          </a:xfrm>
        </p:grpSpPr>
        <p:sp>
          <p:nvSpPr>
            <p:cNvPr id="19" name="Rectangle 19"/>
            <p:cNvSpPr/>
            <p:nvPr/>
          </p:nvSpPr>
          <p:spPr>
            <a:xfrm>
              <a:off x="6286500" y="2952750"/>
              <a:ext cx="5143500" cy="1619250"/>
            </a:xfrm>
            <a:prstGeom prst="roundRect">
              <a:avLst>
                <a:gd name="adj" fmla="val 8235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566154" y="3251835"/>
              <a:ext cx="146802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Russian-Law-MCP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567297" y="3609499"/>
              <a:ext cx="281785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npm @ansvar/russian-law-mcp · Apache-2.0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566916" y="3934778"/>
              <a:ext cx="326174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12 369 федеральных законов · 77 647 положений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566916" y="4172902"/>
              <a:ext cx="20670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«КонсультантПлюс, но для AI»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567488" y="4379595"/>
              <a:ext cx="256427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Базовая правовая база для всех 12 доменов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62000" y="4810125"/>
            <a:ext cx="5143500" cy="1333500"/>
            <a:chOff x="762000" y="4810125"/>
            <a:chExt cx="5143500" cy="1333500"/>
          </a:xfrm>
        </p:grpSpPr>
        <p:sp>
          <p:nvSpPr>
            <p:cNvPr id="26" name="Rectangle 26"/>
            <p:cNvSpPr/>
            <p:nvPr/>
          </p:nvSpPr>
          <p:spPr>
            <a:xfrm>
              <a:off x="762000" y="4810125"/>
              <a:ext cx="51435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041654" y="5109210"/>
              <a:ext cx="25617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ГАРАНТ MCP (официальный API)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42797" y="5466874"/>
              <a:ext cx="266789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Подключение через токен Гарант-Коннект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42797" y="5752624"/>
              <a:ext cx="317598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Полные редакции · судебная практика (Сутяжник)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42797" y="5943124"/>
              <a:ext cx="335483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Мониторинг изменений — currency trigger по-русски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6286500" y="4810125"/>
            <a:ext cx="5143500" cy="1333500"/>
            <a:chOff x="6286500" y="4810125"/>
            <a:chExt cx="5143500" cy="1333500"/>
          </a:xfrm>
        </p:grpSpPr>
        <p:sp>
          <p:nvSpPr>
            <p:cNvPr id="32" name="Rectangle 32"/>
            <p:cNvSpPr/>
            <p:nvPr/>
          </p:nvSpPr>
          <p:spPr>
            <a:xfrm>
              <a:off x="6286500" y="4810125"/>
              <a:ext cx="51435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66154" y="5109210"/>
              <a:ext cx="338574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Резервный режим: web_search + [verify]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567297" y="5466874"/>
              <a:ext cx="304286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Без MCP все цитаты — [модель знания — провер]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567297" y="5752624"/>
              <a:ext cx="408972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или через прямую проверку против pravo.gov.ru / ФИПС / ЕГРЮЛ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566738" y="6570345"/>
            <a:ext cx="3487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8 / 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548278" y="6570345"/>
            <a:ext cx="226748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Vector Legal · Hermes Agent · Оsmosy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6166" y="553402"/>
            <a:ext cx="2242197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07 · Распределение коннекторов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" y="819150"/>
            <a:ext cx="615124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Какая база для какого домена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333500"/>
            <a:ext cx="1143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grpSp>
        <p:nvGrpSpPr>
          <p:cNvPr id="12" name="Group 12"/>
          <p:cNvGrpSpPr/>
          <p:nvPr/>
        </p:nvGrpSpPr>
        <p:grpSpPr>
          <a:xfrm>
            <a:off x="571500" y="1809750"/>
            <a:ext cx="5334000" cy="857250"/>
            <a:chOff x="571500" y="1809750"/>
            <a:chExt cx="5334000" cy="857250"/>
          </a:xfrm>
        </p:grpSpPr>
        <p:sp>
          <p:nvSpPr>
            <p:cNvPr id="9" name="Rectangle 9"/>
            <p:cNvSpPr/>
            <p:nvPr/>
          </p:nvSpPr>
          <p:spPr>
            <a:xfrm>
              <a:off x="571500" y="1809750"/>
              <a:ext cx="5334000" cy="857250"/>
            </a:xfrm>
            <a:prstGeom prst="roundRect">
              <a:avLst>
                <a:gd name="adj" fmla="val 13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03910" y="2021681"/>
              <a:ext cx="181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Коммерческие договоры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04672" y="2371249"/>
              <a:ext cx="39293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Russian-Law · ЕГРЮЛ · + Контрагент 1-выз. · закупки · ЕРИР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286500" y="1809750"/>
            <a:ext cx="5334000" cy="857250"/>
            <a:chOff x="6286500" y="1809750"/>
            <a:chExt cx="5334000" cy="857250"/>
          </a:xfrm>
        </p:grpSpPr>
        <p:sp>
          <p:nvSpPr>
            <p:cNvPr id="13" name="Rectangle 13"/>
            <p:cNvSpPr/>
            <p:nvPr/>
          </p:nvSpPr>
          <p:spPr>
            <a:xfrm>
              <a:off x="6286500" y="1809750"/>
              <a:ext cx="5334000" cy="857250"/>
            </a:xfrm>
            <a:prstGeom prst="roundRect">
              <a:avLst>
                <a:gd name="adj" fmla="val 13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518910" y="2021681"/>
              <a:ext cx="16385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Персональные данные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519672" y="2371249"/>
              <a:ext cx="257570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Russian-Law (152-ФЗ) · + Контрагент-1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571500" y="2857500"/>
            <a:ext cx="5334000" cy="857250"/>
            <a:chOff x="571500" y="2857500"/>
            <a:chExt cx="5334000" cy="857250"/>
          </a:xfrm>
        </p:grpSpPr>
        <p:sp>
          <p:nvSpPr>
            <p:cNvPr id="17" name="Rectangle 17"/>
            <p:cNvSpPr/>
            <p:nvPr/>
          </p:nvSpPr>
          <p:spPr>
            <a:xfrm>
              <a:off x="571500" y="2857500"/>
              <a:ext cx="5334000" cy="857250"/>
            </a:xfrm>
            <a:prstGeom prst="roundRect">
              <a:avLst>
                <a:gd name="adj" fmla="val 13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3910" y="3069431"/>
              <a:ext cx="1725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Корпоративные сделки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04672" y="3418999"/>
              <a:ext cx="30754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ЕГРЮЛ · Russian-Law · + ЦБ-ставки · Росреестр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6286500" y="2857500"/>
            <a:ext cx="5334000" cy="857250"/>
            <a:chOff x="6286500" y="2857500"/>
            <a:chExt cx="5334000" cy="857250"/>
          </a:xfrm>
        </p:grpSpPr>
        <p:sp>
          <p:nvSpPr>
            <p:cNvPr id="21" name="Rectangle 21"/>
            <p:cNvSpPr/>
            <p:nvPr/>
          </p:nvSpPr>
          <p:spPr>
            <a:xfrm>
              <a:off x="6286500" y="2857500"/>
              <a:ext cx="5334000" cy="857250"/>
            </a:xfrm>
            <a:prstGeom prst="roundRect">
              <a:avLst>
                <a:gd name="adj" fmla="val 13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518910" y="3069431"/>
              <a:ext cx="12012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Трудовое право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519672" y="3418999"/>
              <a:ext cx="374281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Russian-Law (ТК РФ) · + ФНС-калькулятор (взносы, НДФЛ)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571500" y="3905250"/>
            <a:ext cx="5334000" cy="857250"/>
            <a:chOff x="571500" y="3905250"/>
            <a:chExt cx="5334000" cy="857250"/>
          </a:xfrm>
        </p:grpSpPr>
        <p:sp>
          <p:nvSpPr>
            <p:cNvPr id="25" name="Rectangle 25"/>
            <p:cNvSpPr/>
            <p:nvPr/>
          </p:nvSpPr>
          <p:spPr>
            <a:xfrm>
              <a:off x="571500" y="3905250"/>
              <a:ext cx="5334000" cy="857250"/>
            </a:xfrm>
            <a:prstGeom prst="roundRect">
              <a:avLst>
                <a:gd name="adj" fmla="val 13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03910" y="4117181"/>
              <a:ext cx="12887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Судебная работа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04672" y="4466749"/>
              <a:ext cx="36638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sudact · Контрагент-1 · + ЦБ-ставки (ст. 395 проценты)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6286500" y="3905250"/>
            <a:ext cx="5334000" cy="857250"/>
            <a:chOff x="6286500" y="3905250"/>
            <a:chExt cx="5334000" cy="857250"/>
          </a:xfrm>
        </p:grpSpPr>
        <p:sp>
          <p:nvSpPr>
            <p:cNvPr id="29" name="Rectangle 29"/>
            <p:cNvSpPr/>
            <p:nvPr/>
          </p:nvSpPr>
          <p:spPr>
            <a:xfrm>
              <a:off x="6286500" y="3905250"/>
              <a:ext cx="5334000" cy="857250"/>
            </a:xfrm>
            <a:prstGeom prst="roundRect">
              <a:avLst>
                <a:gd name="adj" fmla="val 13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18910" y="4117181"/>
              <a:ext cx="1071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ИИ-гавернанс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519672" y="4466749"/>
              <a:ext cx="34368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Russian-Law (152-ФЗ) · + реестр ЭПР ИИ [проверить]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571500" y="4953000"/>
            <a:ext cx="5334000" cy="857250"/>
            <a:chOff x="571500" y="4953000"/>
            <a:chExt cx="5334000" cy="857250"/>
          </a:xfrm>
        </p:grpSpPr>
        <p:sp>
          <p:nvSpPr>
            <p:cNvPr id="33" name="Rectangle 33"/>
            <p:cNvSpPr/>
            <p:nvPr/>
          </p:nvSpPr>
          <p:spPr>
            <a:xfrm>
              <a:off x="571500" y="4953000"/>
              <a:ext cx="5334000" cy="857250"/>
            </a:xfrm>
            <a:prstGeom prst="roundRect">
              <a:avLst>
                <a:gd name="adj" fmla="val 13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03910" y="5164931"/>
              <a:ext cx="19883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Регуляторный мониторинг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04672" y="5514499"/>
              <a:ext cx="376214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Russian-Law · ЦБ-ставки · pravo.gov.ru (в roadmap MCP)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286500" y="4953000"/>
            <a:ext cx="5334000" cy="857250"/>
            <a:chOff x="6286500" y="4953000"/>
            <a:chExt cx="5334000" cy="857250"/>
          </a:xfrm>
        </p:grpSpPr>
        <p:sp>
          <p:nvSpPr>
            <p:cNvPr id="37" name="Rectangle 37"/>
            <p:cNvSpPr/>
            <p:nvPr/>
          </p:nvSpPr>
          <p:spPr>
            <a:xfrm>
              <a:off x="6286500" y="4953000"/>
              <a:ext cx="5334000" cy="857250"/>
            </a:xfrm>
            <a:prstGeom prst="roundRect">
              <a:avLst>
                <a:gd name="adj" fmla="val 13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518910" y="5164931"/>
              <a:ext cx="26005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Интеллектуальная собственность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519672" y="5514499"/>
              <a:ext cx="345079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sudact · Rospatent/ФИПС товарные знаки · Росреестр</a:t>
              </a: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756666" y="6030278"/>
            <a:ext cx="606453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94A3B8"/>
                </a:solidFill>
                <a:latin typeface="Inter"/>
                <a:ea typeface="Inter"/>
                <a:cs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66738" y="6570345"/>
            <a:ext cx="3487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9 / 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548278" y="6570345"/>
            <a:ext cx="226748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Vector Legal · Hermes Agent · Оsmosy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6166" y="553402"/>
            <a:ext cx="216449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08 · Руководство пользователя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" y="819150"/>
            <a:ext cx="345897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Что делать и как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333500"/>
            <a:ext cx="1143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grpSp>
        <p:nvGrpSpPr>
          <p:cNvPr id="16" name="Group 16"/>
          <p:cNvGrpSpPr/>
          <p:nvPr/>
        </p:nvGrpSpPr>
        <p:grpSpPr>
          <a:xfrm>
            <a:off x="762000" y="1809750"/>
            <a:ext cx="3429000" cy="2095500"/>
            <a:chOff x="762000" y="1809750"/>
            <a:chExt cx="3429000" cy="2095500"/>
          </a:xfrm>
        </p:grpSpPr>
        <p:sp>
          <p:nvSpPr>
            <p:cNvPr id="9" name="Rectangle 9"/>
            <p:cNvSpPr/>
            <p:nvPr/>
          </p:nvSpPr>
          <p:spPr>
            <a:xfrm>
              <a:off x="762000" y="1809750"/>
              <a:ext cx="3429000" cy="2095500"/>
            </a:xfrm>
            <a:prstGeom prst="roundRect">
              <a:avLst>
                <a:gd name="adj" fmla="val 727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2133600" y="1990725"/>
              <a:ext cx="685800" cy="685800"/>
            </a:xfrm>
            <a:prstGeom prst="ellipse">
              <a:avLst/>
            </a:prstGeom>
            <a:solidFill>
              <a:srgbClr val="0EA5E9">
                <a:alpha val="30000"/>
              </a:srgbClr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2384202" y="2202180"/>
              <a:ext cx="18459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10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808194" y="2807018"/>
              <a:ext cx="13366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Выбрать домен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78853" y="3133249"/>
              <a:ext cx="219529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12 плагинов — не ставь все сразу,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634800" y="3342799"/>
              <a:ext cx="168340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поставь 1-2 по своей роли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796932" y="3617595"/>
              <a:ext cx="135913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60A5FA"/>
                  </a:solidFill>
                  <a:latin typeface="Inter"/>
                  <a:ea typeface="Inter"/>
                  <a:cs typeface="Inter"/>
                </a:rPr>
                <a:t>→ Установка за 5 минут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4381500" y="1809750"/>
            <a:ext cx="3429000" cy="2095500"/>
            <a:chOff x="4381500" y="1809750"/>
            <a:chExt cx="3429000" cy="2095500"/>
          </a:xfrm>
        </p:grpSpPr>
        <p:sp>
          <p:nvSpPr>
            <p:cNvPr id="17" name="Rectangle 17"/>
            <p:cNvSpPr/>
            <p:nvPr/>
          </p:nvSpPr>
          <p:spPr>
            <a:xfrm>
              <a:off x="4381500" y="1809750"/>
              <a:ext cx="3429000" cy="2095500"/>
            </a:xfrm>
            <a:prstGeom prst="roundRect">
              <a:avLst>
                <a:gd name="adj" fmla="val 727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5753100" y="1990725"/>
              <a:ext cx="685800" cy="685800"/>
            </a:xfrm>
            <a:prstGeom prst="ellipse">
              <a:avLst/>
            </a:prstGeom>
            <a:solidFill>
              <a:srgbClr val="0EA5E9">
                <a:alpha val="30000"/>
              </a:srgb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003702" y="2202180"/>
              <a:ext cx="18459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10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322760" y="2807018"/>
              <a:ext cx="15464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Пройти интервью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267975" y="3133249"/>
              <a:ext cx="16560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Cold-start: 2 мин (quick)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559466" y="3342799"/>
              <a:ext cx="107306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или 15 мин (full)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419735" y="3617595"/>
              <a:ext cx="13525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60A5FA"/>
                  </a:solidFill>
                  <a:latin typeface="Inter"/>
                  <a:ea typeface="Inter"/>
                  <a:cs typeface="Inter"/>
                </a:rPr>
                <a:t>→ Профиль заполняется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001000" y="1809750"/>
            <a:ext cx="3429000" cy="2095500"/>
            <a:chOff x="8001000" y="1809750"/>
            <a:chExt cx="3429000" cy="2095500"/>
          </a:xfrm>
        </p:grpSpPr>
        <p:sp>
          <p:nvSpPr>
            <p:cNvPr id="25" name="Rectangle 25"/>
            <p:cNvSpPr/>
            <p:nvPr/>
          </p:nvSpPr>
          <p:spPr>
            <a:xfrm>
              <a:off x="8001000" y="1809750"/>
              <a:ext cx="3429000" cy="2095500"/>
            </a:xfrm>
            <a:prstGeom prst="roundRect">
              <a:avLst>
                <a:gd name="adj" fmla="val 727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6" name="Ellipse 26"/>
            <p:cNvSpPr/>
            <p:nvPr/>
          </p:nvSpPr>
          <p:spPr>
            <a:xfrm>
              <a:off x="9372600" y="1990725"/>
              <a:ext cx="685800" cy="685800"/>
            </a:xfrm>
            <a:prstGeom prst="ellipse">
              <a:avLst/>
            </a:prstGeom>
            <a:solidFill>
              <a:srgbClr val="0EA5E9">
                <a:alpha val="30000"/>
              </a:srgbClr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23202" y="2202180"/>
              <a:ext cx="18459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10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3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075953" y="2807018"/>
              <a:ext cx="127909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Использовать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819109" y="3133249"/>
              <a:ext cx="179278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Все навыки домена работают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857393" y="3342799"/>
              <a:ext cx="171621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по правилам твоей команды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272324" y="3617595"/>
              <a:ext cx="88635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60A5FA"/>
                  </a:solidFill>
                  <a:latin typeface="Inter"/>
                  <a:ea typeface="Inter"/>
                  <a:cs typeface="Inter"/>
                </a:rPr>
                <a:t>→ Выход вайлид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762000" y="4381500"/>
            <a:ext cx="10668000" cy="1905000"/>
            <a:chOff x="762000" y="4381500"/>
            <a:chExt cx="10668000" cy="1905000"/>
          </a:xfrm>
        </p:grpSpPr>
        <p:sp>
          <p:nvSpPr>
            <p:cNvPr id="33" name="Rectangle 33"/>
            <p:cNvSpPr/>
            <p:nvPr/>
          </p:nvSpPr>
          <p:spPr>
            <a:xfrm>
              <a:off x="762000" y="4381500"/>
              <a:ext cx="10668000" cy="1905000"/>
            </a:xfrm>
            <a:prstGeom prst="roundRect">
              <a:avLst>
                <a:gd name="adj" fmla="val 8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040892" y="4712018"/>
              <a:ext cx="23958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Типовые запросы к агенту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42035" y="5117306"/>
              <a:ext cx="51792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«Проверь этот договор поставки на риски» → Коммерческие договоры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42035" y="5403056"/>
              <a:ext cx="53082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«Нужна ли оценка воздействия для этой фичи?» → Персональные данные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42035" y="5688806"/>
              <a:ext cx="41406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«Кто-то использует наш логотип без разрешения» → ИС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42035" y="5974556"/>
              <a:ext cx="36727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«Сделай хронологию по делу» → Судебная работа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566738" y="6570345"/>
            <a:ext cx="41540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10 / 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548278" y="6570345"/>
            <a:ext cx="226748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Vector Legal · Hermes Agent · Оsmosy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6166" y="553402"/>
            <a:ext cx="95730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09 · Развитие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" y="819150"/>
            <a:ext cx="176178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Roadmap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333500"/>
            <a:ext cx="1143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grpSp>
        <p:nvGrpSpPr>
          <p:cNvPr id="14" name="Group 14"/>
          <p:cNvGrpSpPr/>
          <p:nvPr/>
        </p:nvGrpSpPr>
        <p:grpSpPr>
          <a:xfrm>
            <a:off x="762000" y="1809750"/>
            <a:ext cx="10668000" cy="1466564"/>
            <a:chOff x="762000" y="1809750"/>
            <a:chExt cx="10668000" cy="1466564"/>
          </a:xfrm>
        </p:grpSpPr>
        <p:sp>
          <p:nvSpPr>
            <p:cNvPr id="9" name="Rectangle 9"/>
            <p:cNvSpPr/>
            <p:nvPr/>
          </p:nvSpPr>
          <p:spPr>
            <a:xfrm>
              <a:off x="762000" y="1809750"/>
              <a:ext cx="10668000" cy="1428750"/>
            </a:xfrm>
            <a:prstGeom prst="roundRect">
              <a:avLst>
                <a:gd name="adj" fmla="val 9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40892" y="2140268"/>
              <a:ext cx="28260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Один MCP-сервер vector-legal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42416" y="2534602"/>
              <a:ext cx="57022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Единый сервер поверх существующих conneкторов: atomno-mcp + Russian-Law-MCP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42416" y="2820352"/>
              <a:ext cx="598794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Инструменты «проверь контрагента», «найди судебную практику», «загрузи редакцию»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42797" y="3085624"/>
              <a:ext cx="433270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Снимает требование [verify] — provenance приходит автоматически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762000" y="3524250"/>
            <a:ext cx="10668000" cy="1466564"/>
            <a:chOff x="762000" y="3524250"/>
            <a:chExt cx="10668000" cy="1466564"/>
          </a:xfrm>
        </p:grpSpPr>
        <p:sp>
          <p:nvSpPr>
            <p:cNvPr id="15" name="Rectangle 15"/>
            <p:cNvSpPr/>
            <p:nvPr/>
          </p:nvSpPr>
          <p:spPr>
            <a:xfrm>
              <a:off x="762000" y="3524250"/>
              <a:ext cx="10668000" cy="1428750"/>
            </a:xfrm>
            <a:prstGeom prst="roundRect">
              <a:avLst>
                <a:gd name="adj" fmla="val 9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40892" y="3854768"/>
              <a:ext cx="217612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Отраслевые надстройки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42416" y="4249102"/>
              <a:ext cx="58070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Мясопереработка · сельское хозяйство · ФЗ-49 о сельскохозяйственной кооперации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42416" y="4534852"/>
              <a:ext cx="375613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Гос-контракты 44-ФЗ · Антимонопольный домен ФЗ-135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42797" y="4800124"/>
              <a:ext cx="33020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Расширяет commercial-legal отраслевыми правилами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762000" y="5238750"/>
            <a:ext cx="10668000" cy="857250"/>
            <a:chOff x="762000" y="5238750"/>
            <a:chExt cx="10668000" cy="857250"/>
          </a:xfrm>
        </p:grpSpPr>
        <p:sp>
          <p:nvSpPr>
            <p:cNvPr id="21" name="Rectangle 21"/>
            <p:cNvSpPr/>
            <p:nvPr/>
          </p:nvSpPr>
          <p:spPr>
            <a:xfrm>
              <a:off x="762000" y="5238750"/>
              <a:ext cx="10668000" cy="857250"/>
            </a:xfrm>
            <a:prstGeom prst="roundRect">
              <a:avLst>
                <a:gd name="adj" fmla="val 15556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41273" y="5529739"/>
              <a:ext cx="256607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Связки с экосистемой Vector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42416" y="5839778"/>
              <a:ext cx="582260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AgentHub · Work / Meat / Marketing — общий practice profile между доменами Vector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566738" y="6570345"/>
            <a:ext cx="41540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11 / 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247609" y="1451610"/>
            <a:ext cx="3696783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4200" b="1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Vector Legal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687955" y="2266950"/>
            <a:ext cx="681609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500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12 плагинов · 167 навыков · адаптация claude-for-legal под право РФ</a:t>
            </a:r>
          </a:p>
        </p:txBody>
      </p:sp>
      <p:sp>
        <p:nvSpPr>
          <p:cNvPr id="7" name="Rectangle 7"/>
          <p:cNvSpPr/>
          <p:nvPr/>
        </p:nvSpPr>
        <p:spPr>
          <a:xfrm>
            <a:off x="3810000" y="2762250"/>
            <a:ext cx="4572000" cy="1905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4600208" y="3283268"/>
            <a:ext cx="2991585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github.com/Osmosy/vector-legal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358515" y="3879056"/>
            <a:ext cx="547497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20" dirty="0">
                <a:solidFill>
                  <a:srgbClr val="94A3B8"/>
                </a:solidFill>
                <a:latin typeface="Inter"/>
                <a:ea typeface="Inter"/>
                <a:cs typeface="Inter"/>
              </a:rPr>
              <a:t>Apache-2.0 · структурная база: anthropics/claude-for-legal (Anthropic)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714335" y="4117181"/>
            <a:ext cx="276333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20" dirty="0">
                <a:solidFill>
                  <a:srgbClr val="94A3B8"/>
                </a:solidFill>
                <a:latin typeface="Inter"/>
                <a:ea typeface="Inter"/>
                <a:cs typeface="Inter"/>
              </a:rPr>
              <a:t>адаптация под закон России: Osmosy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85854" y="4926806"/>
            <a:ext cx="502029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20" dirty="0">
                <a:solidFill>
                  <a:srgbClr val="94A3B8"/>
                </a:solidFill>
                <a:latin typeface="Inter"/>
                <a:ea typeface="Inter"/>
                <a:cs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217247" y="5490210"/>
            <a:ext cx="375750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200" dirty="0">
                <a:solidFill>
                  <a:srgbClr val="60A5FA"/>
                </a:solidFill>
                <a:latin typeface="Inter"/>
                <a:ea typeface="Inter"/>
                <a:cs typeface="Inter"/>
              </a:rPr>
              <a:t>«Пройти cold-start интервью commercial-legal»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729282" y="5800249"/>
            <a:ext cx="273343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8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506338" y="6379845"/>
            <a:ext cx="517932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2026-08-29T15:26:24Z</dcterms:created>
  <dcterms:modified xsi:type="dcterms:W3CDTF">2026-08-29T15:26:24Z</dcterms:modified>
  <cp:category/>
  <cp:contentStatus/>
</cp:coreProperties>
</file>